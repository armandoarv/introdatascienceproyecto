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MAGÍSTER EN INTELIGENCIA ARTIFICIAL  ·  PONTIFICIA UNIVERSIDAD CATÓLICA DE CHILE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Global de Precios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Combustibles 2020-2026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B3D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mirada estadística-predictiva sobre 84 países y 27.468 observaciones semanales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526280"/>
            <a:ext cx="1097280" cy="27432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7" name="Text 5"/>
          <p:cNvSpPr/>
          <p:nvPr/>
        </p:nvSpPr>
        <p:spPr>
          <a:xfrm>
            <a:off x="731520" y="47548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Armando Arredondo  ·  Bastián Hernández  ·  Eduardo Albornoz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IMT-3860 — Introducción a Data Science  |  Docente: Alejandro Cataldo Cornejo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62895" y="6400800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preguntas SMART guían todo el proyecto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pregunta gobierna una línea de análisis distinta. Las respuestas se entregan en los slides 6 al 9.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577840" cy="21488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6" name="Shape 4"/>
          <p:cNvSpPr/>
          <p:nvPr/>
        </p:nvSpPr>
        <p:spPr>
          <a:xfrm>
            <a:off x="548640" y="2103120"/>
            <a:ext cx="914400" cy="21488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7" name="Text 5"/>
          <p:cNvSpPr/>
          <p:nvPr/>
        </p:nvSpPr>
        <p:spPr>
          <a:xfrm>
            <a:off x="548640" y="2103120"/>
            <a:ext cx="91440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45920" y="23317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Diferencias por ingreso y subsidios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788920"/>
            <a:ext cx="4297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"¿Cuál es la diferencia promedio y la significancia estadística en los precios de la gasolina entre países por nivel de ingreso y grado de subsidios durante 2020-2026?"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5577840" cy="21488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1" name="Shape 9"/>
          <p:cNvSpPr/>
          <p:nvPr/>
        </p:nvSpPr>
        <p:spPr>
          <a:xfrm>
            <a:off x="6400800" y="2103120"/>
            <a:ext cx="914400" cy="21488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2" name="Text 10"/>
          <p:cNvSpPr/>
          <p:nvPr/>
        </p:nvSpPr>
        <p:spPr>
          <a:xfrm>
            <a:off x="6400800" y="2103120"/>
            <a:ext cx="91440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498080" y="23317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Volatilidad y subsidios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2788920"/>
            <a:ext cx="4297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"¿Existe menor volatilidad semanal en los precios de gasolina y diésel entre países con alto nivel de subsidios, en comparación con aquellos con bajo nivel de subsidios?"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577840" cy="21488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6" name="Shape 14"/>
          <p:cNvSpPr/>
          <p:nvPr/>
        </p:nvSpPr>
        <p:spPr>
          <a:xfrm>
            <a:off x="548640" y="4480560"/>
            <a:ext cx="914400" cy="21488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7" name="Text 15"/>
          <p:cNvSpPr/>
          <p:nvPr/>
        </p:nvSpPr>
        <p:spPr>
          <a:xfrm>
            <a:off x="548640" y="4480560"/>
            <a:ext cx="91440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1645920" y="47091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Capacidad predictiva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5166360"/>
            <a:ext cx="4297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"¿Pueden modelos predictivos sencillos alcanzar un error MAPE ≤ 5% en países representativos para el período 2025-2026?"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4480560"/>
            <a:ext cx="5577840" cy="21488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21" name="Shape 19"/>
          <p:cNvSpPr/>
          <p:nvPr/>
        </p:nvSpPr>
        <p:spPr>
          <a:xfrm>
            <a:off x="6400800" y="4480560"/>
            <a:ext cx="914400" cy="21488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22" name="Text 20"/>
          <p:cNvSpPr/>
          <p:nvPr/>
        </p:nvSpPr>
        <p:spPr>
          <a:xfrm>
            <a:off x="6400800" y="4480560"/>
            <a:ext cx="91440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498080" y="47091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Divergencias estructurales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0" y="5166360"/>
            <a:ext cx="4297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"¿Existen países donde el precio diverge sistemáticamente del modelo predictivo, y qué tipologías emergen al agruparlos?"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etapas que conectan la pregunta con la respuesta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entrega un insumo concreto a la siguiente; ninguna es prescindible.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94560" cy="365760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6" name="Shape 4"/>
          <p:cNvSpPr/>
          <p:nvPr/>
        </p:nvSpPr>
        <p:spPr>
          <a:xfrm>
            <a:off x="548640" y="2103120"/>
            <a:ext cx="2194560" cy="9144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7" name="Text 5"/>
          <p:cNvSpPr/>
          <p:nvPr/>
        </p:nvSpPr>
        <p:spPr>
          <a:xfrm>
            <a:off x="548640" y="2194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Exploratorio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Estructura, calidad 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del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983480"/>
            <a:ext cx="1920240" cy="5943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1" name="Text 9"/>
          <p:cNvSpPr/>
          <p:nvPr/>
        </p:nvSpPr>
        <p:spPr>
          <a:xfrm>
            <a:off x="685800" y="49834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descriptiva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7772" y="3813048"/>
            <a:ext cx="128016" cy="237744"/>
          </a:xfrm>
          <a:prstGeom prst="rightArrow">
            <a:avLst/>
          </a:prstGeom>
          <a:solidFill>
            <a:srgbClr val="F0B62E"/>
          </a:solidFill>
        </p:spPr>
      </p:sp>
      <p:sp>
        <p:nvSpPr>
          <p:cNvPr id="13" name="Shape 11"/>
          <p:cNvSpPr/>
          <p:nvPr/>
        </p:nvSpPr>
        <p:spPr>
          <a:xfrm>
            <a:off x="2880360" y="2103120"/>
            <a:ext cx="2194560" cy="365760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4" name="Shape 12"/>
          <p:cNvSpPr/>
          <p:nvPr/>
        </p:nvSpPr>
        <p:spPr>
          <a:xfrm>
            <a:off x="2880360" y="2103120"/>
            <a:ext cx="2194560" cy="9144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5" name="Text 13"/>
          <p:cNvSpPr/>
          <p:nvPr/>
        </p:nvSpPr>
        <p:spPr>
          <a:xfrm>
            <a:off x="2880360" y="2194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4688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Limpieza &amp; Features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32004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(IQR ∩ MZS)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17520" y="4983480"/>
            <a:ext cx="1920240" cy="5943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9" name="Text 17"/>
          <p:cNvSpPr/>
          <p:nvPr/>
        </p:nvSpPr>
        <p:spPr>
          <a:xfrm>
            <a:off x="3017520" y="49834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modelable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9492" y="3813048"/>
            <a:ext cx="128016" cy="237744"/>
          </a:xfrm>
          <a:prstGeom prst="rightArrow">
            <a:avLst/>
          </a:prstGeom>
          <a:solidFill>
            <a:srgbClr val="F0B62E"/>
          </a:solidFill>
        </p:spPr>
      </p:sp>
      <p:sp>
        <p:nvSpPr>
          <p:cNvPr id="21" name="Shape 19"/>
          <p:cNvSpPr/>
          <p:nvPr/>
        </p:nvSpPr>
        <p:spPr>
          <a:xfrm>
            <a:off x="5212080" y="2103120"/>
            <a:ext cx="2194560" cy="365760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22" name="Shape 20"/>
          <p:cNvSpPr/>
          <p:nvPr/>
        </p:nvSpPr>
        <p:spPr>
          <a:xfrm>
            <a:off x="5212080" y="2103120"/>
            <a:ext cx="2194560" cy="9144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3" name="Text 21"/>
          <p:cNvSpPr/>
          <p:nvPr/>
        </p:nvSpPr>
        <p:spPr>
          <a:xfrm>
            <a:off x="5212080" y="2194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4688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Inferencia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32004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+ Kruskal-Wallis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 · Mann-Whitney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· η² · Bonferroni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49240" y="4983480"/>
            <a:ext cx="1920240" cy="5943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27" name="Text 25"/>
          <p:cNvSpPr/>
          <p:nvPr/>
        </p:nvSpPr>
        <p:spPr>
          <a:xfrm>
            <a:off x="5349240" y="49834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Q1 y Q2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11212" y="3813048"/>
            <a:ext cx="128016" cy="237744"/>
          </a:xfrm>
          <a:prstGeom prst="rightArrow">
            <a:avLst/>
          </a:prstGeom>
          <a:solidFill>
            <a:srgbClr val="F0B62E"/>
          </a:solidFill>
        </p:spPr>
      </p:sp>
      <p:sp>
        <p:nvSpPr>
          <p:cNvPr id="29" name="Shape 27"/>
          <p:cNvSpPr/>
          <p:nvPr/>
        </p:nvSpPr>
        <p:spPr>
          <a:xfrm>
            <a:off x="7543800" y="2103120"/>
            <a:ext cx="2194560" cy="365760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30" name="Shape 28"/>
          <p:cNvSpPr/>
          <p:nvPr/>
        </p:nvSpPr>
        <p:spPr>
          <a:xfrm>
            <a:off x="7543800" y="2103120"/>
            <a:ext cx="2194560" cy="9144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1" name="Text 29"/>
          <p:cNvSpPr/>
          <p:nvPr/>
        </p:nvSpPr>
        <p:spPr>
          <a:xfrm>
            <a:off x="7543800" y="2194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24688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Modelado predictivo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80960" y="32004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→ Decision Tree → HGB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(5 folds)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estricto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80960" y="4983480"/>
            <a:ext cx="1920240" cy="5943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5" name="Text 33"/>
          <p:cNvSpPr/>
          <p:nvPr/>
        </p:nvSpPr>
        <p:spPr>
          <a:xfrm>
            <a:off x="7680960" y="49834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Q3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742932" y="3813048"/>
            <a:ext cx="128016" cy="237744"/>
          </a:xfrm>
          <a:prstGeom prst="rightArrow">
            <a:avLst/>
          </a:prstGeom>
          <a:solidFill>
            <a:srgbClr val="F0B62E"/>
          </a:solidFill>
        </p:spPr>
      </p:sp>
      <p:sp>
        <p:nvSpPr>
          <p:cNvPr id="37" name="Shape 35"/>
          <p:cNvSpPr/>
          <p:nvPr/>
        </p:nvSpPr>
        <p:spPr>
          <a:xfrm>
            <a:off x="9875520" y="2103120"/>
            <a:ext cx="2194560" cy="365760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38" name="Shape 36"/>
          <p:cNvSpPr/>
          <p:nvPr/>
        </p:nvSpPr>
        <p:spPr>
          <a:xfrm>
            <a:off x="9875520" y="2103120"/>
            <a:ext cx="2194560" cy="9144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9" name="Text 37"/>
          <p:cNvSpPr/>
          <p:nvPr/>
        </p:nvSpPr>
        <p:spPr>
          <a:xfrm>
            <a:off x="9875520" y="2194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966960" y="24688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residuos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12680" y="32004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del HGB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Clustermap jerárquico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divergencias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012680" y="4983480"/>
            <a:ext cx="1920240" cy="5943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43" name="Text 41"/>
          <p:cNvSpPr/>
          <p:nvPr/>
        </p:nvSpPr>
        <p:spPr>
          <a:xfrm>
            <a:off x="10012680" y="49834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Q4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el problema en etapas explícitas no es solo orden expositivo: cada etapa produce un insumo concreto que la siguiente necesita.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 ·  EDA EXPLORATORIO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hay en los datos antes de modelar?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0" cy="452628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5" name="Text 3"/>
          <p:cNvSpPr/>
          <p:nvPr/>
        </p:nvSpPr>
        <p:spPr>
          <a:xfrm>
            <a:off x="822960" y="20574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 CIFRAS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27.468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154680" y="26060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semanales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154680" y="35204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en 7 regiones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54680" y="44348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(ene-2020 a abr-2026)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3492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154680" y="53492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originales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182880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DESCRIPTIVOS CLAVE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2194560"/>
            <a:ext cx="73152" cy="1325880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16" name="Text 14"/>
          <p:cNvSpPr/>
          <p:nvPr/>
        </p:nvSpPr>
        <p:spPr>
          <a:xfrm>
            <a:off x="6126480" y="219456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 bimodal de precios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51460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muestra dos modos: un pico cerca de 0 USD/L (regímenes con subsidio) y otro cerca de 4,5 USD/L (mercados europeos sin subsidio). Justifica métodos no paramétricos.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3611880"/>
            <a:ext cx="73152" cy="1325880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19" name="Text 17"/>
          <p:cNvSpPr/>
          <p:nvPr/>
        </p:nvSpPr>
        <p:spPr>
          <a:xfrm>
            <a:off x="6126480" y="361188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Asimetría regional pronunciada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393192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y Oceanía: medianas &gt; 3,5 USD/L. Middle East: 1,23 USD/L. La diferencia entre regiones excede los 2 USD/L.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5029200"/>
            <a:ext cx="73152" cy="1325880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22" name="Text 20"/>
          <p:cNvSpPr/>
          <p:nvPr/>
        </p:nvSpPr>
        <p:spPr>
          <a:xfrm>
            <a:off x="6126480" y="502920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Brent 2020-2026 con tres fases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534924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COVID (abr-2020), pico Ucrania (mar-2022 &gt; 120 USD/barril), estabilización 2023-2026. Las series minoristas siguen el patrón con distinto pass-through.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 ·  LIMPIEZA Y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Decisiones clave: outliers contextuales, no eliminados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precios extremos son reales (régimen de subsidio o tributación), no errores. Se flaggean para análisis pero no se eliminan.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57600" cy="402336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6" name="Shape 4"/>
          <p:cNvSpPr/>
          <p:nvPr/>
        </p:nvSpPr>
        <p:spPr>
          <a:xfrm>
            <a:off x="548640" y="2194560"/>
            <a:ext cx="3657600" cy="8686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7" name="Text 5"/>
          <p:cNvSpPr/>
          <p:nvPr/>
        </p:nvSpPr>
        <p:spPr>
          <a:xfrm>
            <a:off x="731520" y="23317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Detección de outliers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0B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∩ Modified Z-Score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24612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 de dos métodos: solo se marca outlier si AMBOS coinciden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Iglewicz &amp; Hoaglin (1993): MAD es robusto cuando IQR pierde potencia por bimodalidad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outliers no se eliminan: son flags para análisis posterior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657600" cy="402336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1" name="Shape 9"/>
          <p:cNvSpPr/>
          <p:nvPr/>
        </p:nvSpPr>
        <p:spPr>
          <a:xfrm>
            <a:off x="4389120" y="2194560"/>
            <a:ext cx="3657600" cy="8686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2" name="Text 10"/>
          <p:cNvSpPr/>
          <p:nvPr/>
        </p:nvSpPr>
        <p:spPr>
          <a:xfrm>
            <a:off x="4572000" y="23317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Tratamiento de faltantes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0B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Imputación por mediana de país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3200400"/>
            <a:ext cx="324612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Faltantes: ~3% del dataset, concentrados en 8 países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con mediana del país preserva la heterogeneidad estructural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explícita: cada NaN imputado se marca para trazabilidad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194560"/>
            <a:ext cx="3657600" cy="402336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6" name="Shape 14"/>
          <p:cNvSpPr/>
          <p:nvPr/>
        </p:nvSpPr>
        <p:spPr>
          <a:xfrm>
            <a:off x="8229600" y="2194560"/>
            <a:ext cx="3657600" cy="8686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7" name="Text 15"/>
          <p:cNvSpPr/>
          <p:nvPr/>
        </p:nvSpPr>
        <p:spPr>
          <a:xfrm>
            <a:off x="8412480" y="23317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derivadas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6974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0B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Lags, medias móviles y CV%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58200" y="3200400"/>
            <a:ext cx="324612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lag 1, 2, 4 semanas: captura pass-through retardado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móvil 4w: suaviza ruido semanal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CV% por país: mide volatilidad relativa para Q2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" name="Text 2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"¿Cuál es la diferencia promedio y la significancia estadística en los precios entre países por nivel de ingreso y grado de subsidios?"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 difieren, con efecto grande (η² = 0,42)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6583680" cy="402336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8" name="Text 6"/>
          <p:cNvSpPr/>
          <p:nvPr/>
        </p:nvSpPr>
        <p:spPr>
          <a:xfrm>
            <a:off x="777240" y="246888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CUANTITATIVA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nivel de ingreso (USD/litro)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3145536"/>
            <a:ext cx="2743200" cy="20116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2" name="Text 10"/>
          <p:cNvSpPr/>
          <p:nvPr/>
        </p:nvSpPr>
        <p:spPr>
          <a:xfrm>
            <a:off x="4370832" y="31089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40156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54480" y="3438144"/>
            <a:ext cx="1234440" cy="20116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5" name="Text 13"/>
          <p:cNvSpPr/>
          <p:nvPr/>
        </p:nvSpPr>
        <p:spPr>
          <a:xfrm>
            <a:off x="2862072" y="340156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6941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54480" y="3730752"/>
            <a:ext cx="1097280" cy="20116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8" name="Text 16"/>
          <p:cNvSpPr/>
          <p:nvPr/>
        </p:nvSpPr>
        <p:spPr>
          <a:xfrm>
            <a:off x="2724912" y="36941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11480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nivel de subsidio (USD/litro)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37360" y="4471416"/>
            <a:ext cx="2743200" cy="201168"/>
          </a:xfrm>
          <a:prstGeom prst="rect">
            <a:avLst/>
          </a:prstGeom>
          <a:solidFill>
            <a:srgbClr val="F25C54"/>
          </a:solidFill>
        </p:spPr>
      </p:sp>
      <p:sp>
        <p:nvSpPr>
          <p:cNvPr id="22" name="Text 20"/>
          <p:cNvSpPr/>
          <p:nvPr/>
        </p:nvSpPr>
        <p:spPr>
          <a:xfrm>
            <a:off x="4553712" y="44348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3,45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72744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37360" y="4764024"/>
            <a:ext cx="1325880" cy="201168"/>
          </a:xfrm>
          <a:prstGeom prst="rect">
            <a:avLst/>
          </a:prstGeom>
          <a:solidFill>
            <a:srgbClr val="F25C54"/>
          </a:solidFill>
        </p:spPr>
      </p:sp>
      <p:sp>
        <p:nvSpPr>
          <p:cNvPr id="25" name="Text 23"/>
          <p:cNvSpPr/>
          <p:nvPr/>
        </p:nvSpPr>
        <p:spPr>
          <a:xfrm>
            <a:off x="3136392" y="472744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02005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737360" y="5056632"/>
            <a:ext cx="548640" cy="201168"/>
          </a:xfrm>
          <a:prstGeom prst="rect">
            <a:avLst/>
          </a:prstGeom>
          <a:solidFill>
            <a:srgbClr val="F25C54"/>
          </a:solidFill>
        </p:spPr>
      </p:sp>
      <p:sp>
        <p:nvSpPr>
          <p:cNvPr id="28" name="Text 26"/>
          <p:cNvSpPr/>
          <p:nvPr/>
        </p:nvSpPr>
        <p:spPr>
          <a:xfrm>
            <a:off x="2359152" y="502005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53126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737360" y="5349240"/>
            <a:ext cx="137160" cy="201168"/>
          </a:xfrm>
          <a:prstGeom prst="rect">
            <a:avLst/>
          </a:prstGeom>
          <a:solidFill>
            <a:srgbClr val="F25C54"/>
          </a:solidFill>
        </p:spPr>
      </p:sp>
      <p:sp>
        <p:nvSpPr>
          <p:cNvPr id="31" name="Text 29"/>
          <p:cNvSpPr/>
          <p:nvPr/>
        </p:nvSpPr>
        <p:spPr>
          <a:xfrm>
            <a:off x="1947672" y="5312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0,15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06640" y="2331720"/>
            <a:ext cx="4297680" cy="4023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3" name="Text 31"/>
          <p:cNvSpPr/>
          <p:nvPr/>
        </p:nvSpPr>
        <p:spPr>
          <a:xfrm>
            <a:off x="7635240" y="24688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ESTADÍSTICA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2788920"/>
            <a:ext cx="38404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= 9.843</a:t>
            </a:r>
            <a:endParaRPr lang="en-US" sz="2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B3D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ANOVA paramétrico</a:t>
            </a:r>
            <a:endParaRPr lang="en-US" sz="2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 = 10.354</a:t>
            </a:r>
            <a:endParaRPr lang="en-US" sz="2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B3D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Kruskal-Wallis (no paramétrico)</a:t>
            </a:r>
            <a:endParaRPr lang="en-US" sz="2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η² = 0,42  </a:t>
            </a:r>
            <a:r>
              <a:rPr lang="en-US" sz="1100" i="1" dirty="0">
                <a:solidFill>
                  <a:srgbClr val="B3D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(efecto grande)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406640" y="5212080"/>
            <a:ext cx="4297680" cy="11430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6" name="Text 34"/>
          <p:cNvSpPr/>
          <p:nvPr/>
        </p:nvSpPr>
        <p:spPr>
          <a:xfrm>
            <a:off x="7635240" y="5303520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IMPLICANCIA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35240" y="5532120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régimen de subsidio importa más que el nivel de ingreso para determinar el precio absoluto.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" name="Text 2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"¿Existe menor volatilidad semanal en los precios entre países con alto nivel de subsidios vs. aquellos con bajo nivel?"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Parcialmente. Los subsidios no eliminan la volatilidad: la concentran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1188720"/>
          </a:xfrm>
          <a:prstGeom prst="rect">
            <a:avLst/>
          </a:prstGeom>
          <a:solidFill>
            <a:srgbClr val="F25C54"/>
          </a:solidFill>
        </p:spPr>
      </p:sp>
      <p:sp>
        <p:nvSpPr>
          <p:cNvPr id="8" name="Text 6"/>
          <p:cNvSpPr/>
          <p:nvPr/>
        </p:nvSpPr>
        <p:spPr>
          <a:xfrm>
            <a:off x="777240" y="24231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CONTRAINTUITIVO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con subsidio Very High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(Argelia, Venezuela, Arabia Saudita, Irán)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muestran CV promedio MÁS ALTOS que los de subsidio Low.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49240" cy="21031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1" name="Text 9"/>
          <p:cNvSpPr/>
          <p:nvPr/>
        </p:nvSpPr>
        <p:spPr>
          <a:xfrm>
            <a:off x="777240" y="38862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Mientras el subsidio se sostiene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 al Brent &lt; 0,3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prácticamente constante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bajo en ventanas cortas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B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PASS-THROUGH &lt; 0,3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703320"/>
            <a:ext cx="5349240" cy="210312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5" name="Text 13"/>
          <p:cNvSpPr/>
          <p:nvPr/>
        </p:nvSpPr>
        <p:spPr>
          <a:xfrm>
            <a:off x="6492240" y="38862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el costo fiscal se agota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429768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discontinuo del subsidio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abrupto del precio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outlier de volatilidad enorme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548640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B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TOTAL ↑↑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teórico: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Bacon (1991, </a:t>
            </a: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Rockets and Feathers Hypothesis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·  Coady et al. (2018, IMF Working Paper).  </a:t>
            </a: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Implicancia:  </a:t>
            </a: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subsidios actúan como amortiguador de corto plazo pero crean riesgo de ajuste súbito cuando el soporte fiscal se agota.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" name="Text 2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"¿Pueden modelos predictivos sencillos alcanzar un error MAPE ≤ 5% en países representativos para el período 2025-2026?"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Sí, en el 60,9% de los países evaluados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4114800" cy="4023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8" name="Text 6"/>
          <p:cNvSpPr/>
          <p:nvPr/>
        </p:nvSpPr>
        <p:spPr>
          <a:xfrm>
            <a:off x="548640" y="25146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QUE CUMPLEN MAPE ≤ 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/ 23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60,9%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77240" y="4846320"/>
            <a:ext cx="3657600" cy="13716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2" name="Text 10"/>
          <p:cNvSpPr/>
          <p:nvPr/>
        </p:nvSpPr>
        <p:spPr>
          <a:xfrm>
            <a:off x="868680" y="4956048"/>
            <a:ext cx="35204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mediano:   </a:t>
            </a:r>
            <a:r>
              <a:rPr lang="en-US" sz="1400" b="1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2,33%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medio:   </a:t>
            </a:r>
            <a:r>
              <a:rPr lang="en-US" sz="1400" b="1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17,51%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modelo:   </a:t>
            </a:r>
            <a:r>
              <a:rPr lang="en-US" sz="1400" b="1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</a:t>
            </a:r>
            <a:r>
              <a:rPr lang="en-US" sz="1200" i="1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(12/23)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331720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POR MODELO (TEST 2025-2026)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2697480"/>
            <a:ext cx="6720840" cy="41148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5" name="Text 13"/>
          <p:cNvSpPr/>
          <p:nvPr/>
        </p:nvSpPr>
        <p:spPr>
          <a:xfrm>
            <a:off x="5120640" y="2697480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6974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464040" y="26974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52760" y="26974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3108960"/>
            <a:ext cx="672084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5120640" y="3108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310896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0,909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64040" y="310896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13,72%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652760" y="310896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62,93%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3611880"/>
            <a:ext cx="6720840" cy="50292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25" name="Text 23"/>
          <p:cNvSpPr/>
          <p:nvPr/>
        </p:nvSpPr>
        <p:spPr>
          <a:xfrm>
            <a:off x="5120640" y="36118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75320" y="36118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0,957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64040" y="36118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7,86%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52760" y="36118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13,81%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83480" y="4114800"/>
            <a:ext cx="672084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Shape 28"/>
          <p:cNvSpPr/>
          <p:nvPr/>
        </p:nvSpPr>
        <p:spPr>
          <a:xfrm>
            <a:off x="4983480" y="4114800"/>
            <a:ext cx="91440" cy="502920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31" name="Text 29"/>
          <p:cNvSpPr/>
          <p:nvPr/>
        </p:nvSpPr>
        <p:spPr>
          <a:xfrm>
            <a:off x="5120640" y="411480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75320" y="41148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0,960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64040" y="41148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7,32%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652760" y="41148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15,58%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83480" y="4754880"/>
            <a:ext cx="6720840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Implicancia: 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mercados libres (Alemania, Francia, Sudáfrica con MAPE &lt; 2%) los modelos sirven para alertas. </a:t>
            </a: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países con controles de precios fuertes (MAPE &gt; 15%) el modelo detecta la divergencia pero no puede pronosticarla sin variables de política específicas.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" name="Text 2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"¿Existen países donde el precio diverge sistemáticamente del modelo, y qué tipologías emergen al agruparlos?"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Sí. El residuo es proxy de intervención de política no observable</a:t>
            </a:r>
            <a:endParaRPr lang="en-US" sz="2600" dirty="0"/>
          </a:p>
        </p:txBody>
      </p:sp>
      <p:pic>
        <p:nvPicPr>
          <p:cNvPr id="7" name="Image 0" descr="/home/claude/project/slide_4_5_clustermap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2331720"/>
            <a:ext cx="640080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2331720"/>
            <a:ext cx="4526280" cy="393192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9" name="Text 6"/>
          <p:cNvSpPr/>
          <p:nvPr/>
        </p:nvSpPr>
        <p:spPr>
          <a:xfrm>
            <a:off x="7360920" y="246888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TIPOLOGÍAS EMERGENTES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60920" y="274320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etiquetas previas, el clustering jerárquico revela tres patrones temporales: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60920" y="3246120"/>
            <a:ext cx="73152" cy="841248"/>
          </a:xfrm>
          <a:prstGeom prst="rect">
            <a:avLst/>
          </a:prstGeom>
          <a:solidFill>
            <a:srgbClr val="F25C54"/>
          </a:solidFill>
        </p:spPr>
      </p:sp>
      <p:sp>
        <p:nvSpPr>
          <p:cNvPr id="12" name="Text 9"/>
          <p:cNvSpPr/>
          <p:nvPr/>
        </p:nvSpPr>
        <p:spPr>
          <a:xfrm>
            <a:off x="7543800" y="324612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Sobre-precio crónico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43800" y="352044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+1,53 USD/L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43800" y="3813048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Kong, Noruega, Singapur, Irlanda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60920" y="4160520"/>
            <a:ext cx="73152" cy="84124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6" name="Text 13"/>
          <p:cNvSpPr/>
          <p:nvPr/>
        </p:nvSpPr>
        <p:spPr>
          <a:xfrm>
            <a:off x="7543800" y="416052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Sub-precio crónico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43800" y="443484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−1,10 USD/L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43800" y="4727448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Taiwán, Czech Republic, Japón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60920" y="5074920"/>
            <a:ext cx="73152" cy="841248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0" name="Text 17"/>
          <p:cNvSpPr/>
          <p:nvPr/>
        </p:nvSpPr>
        <p:spPr>
          <a:xfrm>
            <a:off x="7543800" y="507492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bien calibrado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3800" y="534924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43800" y="5641848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Australia, Portugal, Romania, Tanzania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360920" y="5897880"/>
            <a:ext cx="4160520" cy="3657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4" name="Text 21"/>
          <p:cNvSpPr/>
          <p:nvPr/>
        </p:nvSpPr>
        <p:spPr>
          <a:xfrm>
            <a:off x="7452360" y="589788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1.374 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flaggeadas como divergencias estructurales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cuatro respuestas convergen en un mensaje único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que un consumidor paga es el resultado de una decisión política, más que de un mercado libre.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CONSOLIDADO POR PREGUNTA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94360" cy="7772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7" name="Text 5"/>
          <p:cNvSpPr/>
          <p:nvPr/>
        </p:nvSpPr>
        <p:spPr>
          <a:xfrm>
            <a:off x="548640" y="2423160"/>
            <a:ext cx="594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2423160"/>
            <a:ext cx="4892040" cy="7772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9" name="Text 7"/>
          <p:cNvSpPr/>
          <p:nvPr/>
        </p:nvSpPr>
        <p:spPr>
          <a:xfrm>
            <a:off x="1325880" y="242316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enormes (η²=0,42). El subsidio importa más que el ingreso.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594360" cy="7772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1" name="Text 9"/>
          <p:cNvSpPr/>
          <p:nvPr/>
        </p:nvSpPr>
        <p:spPr>
          <a:xfrm>
            <a:off x="548640" y="3291840"/>
            <a:ext cx="594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3291840"/>
            <a:ext cx="4892040" cy="7772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3" name="Text 11"/>
          <p:cNvSpPr/>
          <p:nvPr/>
        </p:nvSpPr>
        <p:spPr>
          <a:xfrm>
            <a:off x="1325880" y="329184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Subsidios concentran la volatilidad en saltos discretos, no la eliminan.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94360" cy="7772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5" name="Text 13"/>
          <p:cNvSpPr/>
          <p:nvPr/>
        </p:nvSpPr>
        <p:spPr>
          <a:xfrm>
            <a:off x="548640" y="4160520"/>
            <a:ext cx="594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4160520"/>
            <a:ext cx="4892040" cy="7772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7" name="Text 15"/>
          <p:cNvSpPr/>
          <p:nvPr/>
        </p:nvSpPr>
        <p:spPr>
          <a:xfrm>
            <a:off x="1325880" y="416052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60,9% de países con MAPE ≤ 5%. HGB es el mejor modelo (R²=0,96).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594360" cy="7772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9" name="Text 17"/>
          <p:cNvSpPr/>
          <p:nvPr/>
        </p:nvSpPr>
        <p:spPr>
          <a:xfrm>
            <a:off x="548640" y="5029200"/>
            <a:ext cx="594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5029200"/>
            <a:ext cx="4892040" cy="7772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21" name="Text 19"/>
          <p:cNvSpPr/>
          <p:nvPr/>
        </p:nvSpPr>
        <p:spPr>
          <a:xfrm>
            <a:off x="1325880" y="502920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1.374 divergencias estructurales. 3 tipologías sin etiquetas previas.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205740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POLÍTICA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423160"/>
            <a:ext cx="5349240" cy="96012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24" name="Text 22"/>
          <p:cNvSpPr/>
          <p:nvPr/>
        </p:nvSpPr>
        <p:spPr>
          <a:xfrm>
            <a:off x="6537960" y="251460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178040" y="251460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Subsidios focalizados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2807208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subsidios universales por transferencias directas a hogares vulnerables identificados por instrumentos de focalización.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3429000"/>
            <a:ext cx="5349240" cy="96012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28" name="Text 26"/>
          <p:cNvSpPr/>
          <p:nvPr/>
        </p:nvSpPr>
        <p:spPr>
          <a:xfrm>
            <a:off x="6537960" y="352044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178040" y="352044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Fondos de estabilización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78040" y="3813048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fiscales en períodos de Brent bajo para absorber shocks futuros sin generar saltos de precio.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0" y="4434840"/>
            <a:ext cx="5349240" cy="96012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32" name="Text 30"/>
          <p:cNvSpPr/>
          <p:nvPr/>
        </p:nvSpPr>
        <p:spPr>
          <a:xfrm>
            <a:off x="6537960" y="452628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178040" y="452628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Monitoreo de pass-through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78040" y="4818888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cuando la correlación Brent↔precio supere umbral crítico (señal de mercado tensionado).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5440680"/>
            <a:ext cx="5349240" cy="96012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36" name="Text 34"/>
          <p:cNvSpPr/>
          <p:nvPr/>
        </p:nvSpPr>
        <p:spPr>
          <a:xfrm>
            <a:off x="6537960" y="553212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178040" y="553212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Transparencia de componentes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78040" y="5824728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mensualmente la descomposición precio = costo crudo + impuesto + margen (modelo Reino Unido y Alemania).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3" name="Text 1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Aportes y limitaciones reconocidas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97280" cy="36576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6" name="Text 4"/>
          <p:cNvSpPr/>
          <p:nvPr/>
        </p:nvSpPr>
        <p:spPr>
          <a:xfrm>
            <a:off x="731520" y="1874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 METODOLÓGICOS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6400800" cy="11887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8" name="Text 6"/>
          <p:cNvSpPr/>
          <p:nvPr/>
        </p:nvSpPr>
        <p:spPr>
          <a:xfrm>
            <a:off x="868680" y="2331720"/>
            <a:ext cx="640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54480" y="242316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 dual sistemática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743200"/>
            <a:ext cx="5440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test paramétrico se acompaña de su equivalente no paramétrico y un tamaño del efecto. Con n grandes, la convergencia importa más que el p-value.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6400800" cy="11887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2" name="Text 10"/>
          <p:cNvSpPr/>
          <p:nvPr/>
        </p:nvSpPr>
        <p:spPr>
          <a:xfrm>
            <a:off x="868680" y="3611880"/>
            <a:ext cx="640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54480" y="370332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 temporal sin data leakage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4023360"/>
            <a:ext cx="5440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estricto train (2020-2024) / test (2025-2026) y TimeSeriesSplit interno. El test se mantiene intacto durante toda la calibración.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800600"/>
            <a:ext cx="6400800" cy="11887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6" name="Text 14"/>
          <p:cNvSpPr/>
          <p:nvPr/>
        </p:nvSpPr>
        <p:spPr>
          <a:xfrm>
            <a:off x="868680" y="4892040"/>
            <a:ext cx="640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554480" y="498348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Residuos como proxy de política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5303520"/>
            <a:ext cx="5440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residuo del HGB cuantifica la fracción del precio no explicable por covariables observables. Identifica divergencias sin requerir variables institucionales.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187452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RECONOCIDAS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0920" y="2240280"/>
            <a:ext cx="42976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correlacional, no causal. Sin diseño cuasi-experimental no se infieren efectos causales.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Subsidio codificado como variable ordinal (Low/Medium/High/Very High), sin magnitud monetaria.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 temporal no capturada: cambios de política dentro del período no se modelan explícitamente.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geográfica: 84 países; África sub-sahariana de bajo ingreso subrepresentada.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 ·  </a:t>
            </a:r>
            <a:r>
              <a:rPr lang="en-US" sz="1000" i="1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github.com/grupo1/imt3860-fuel-prices</a:t>
            </a:r>
            <a:r>
              <a:rPr lang="en-US" sz="10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Dataset Kaggle: belbino/global-fuel-prices-20202026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8543</Words>
  <Application>WPS Presentation</Application>
  <PresentationFormat>On-screen Show (16:9)</PresentationFormat>
  <Paragraphs>440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SimSun</vt:lpstr>
      <vt:lpstr>Wingdings</vt:lpstr>
      <vt:lpstr>DejaVu Sans</vt:lpstr>
      <vt:lpstr>Calibri</vt:lpstr>
      <vt:lpstr>Calibri</vt:lpstr>
      <vt:lpstr>Calibri</vt:lpstr>
      <vt:lpstr>Georgia</vt:lpstr>
      <vt:lpstr>Georgia</vt:lpstr>
      <vt:lpstr>Georgia</vt:lpstr>
      <vt:lpstr>Consolas</vt:lpstr>
      <vt:lpstr>Consolas</vt:lpstr>
      <vt:lpstr>Consolas</vt:lpstr>
      <vt:lpstr>C059</vt:lpstr>
      <vt:lpstr>Microsoft YaHei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Global de Precios de Combustibles 2020-2026</dc:title>
  <dc:creator>Arredondo, Hernández, Nahamias, Albornoz</dc:creator>
  <dc:subject>PptxGenJS Presentation</dc:subject>
  <cp:lastModifiedBy>armandoav</cp:lastModifiedBy>
  <cp:revision>2</cp:revision>
  <dcterms:created xsi:type="dcterms:W3CDTF">2026-05-09T21:01:15Z</dcterms:created>
  <dcterms:modified xsi:type="dcterms:W3CDTF">2026-05-09T21:01:15Z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